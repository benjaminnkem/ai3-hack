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book/Desktop/Projects/AI3-hack/docs/pitch/assets/research-edi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030908"/>
          </a:solidFill>
          <a:ln w="12700">
            <a:solidFill>
              <a:srgbClr val="030908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257800" y="0"/>
            <a:ext cx="1188720" cy="6858000"/>
          </a:xfrm>
          <a:prstGeom prst="rect">
            <a:avLst/>
          </a:prstGeom>
          <a:solidFill>
            <a:srgbClr val="030908"/>
          </a:solidFill>
          <a:ln w="12700">
            <a:solidFill>
              <a:srgbClr val="030908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21792" y="5029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×  SIMAN LABS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21792" y="1307592"/>
            <a:ext cx="7452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Check before</a:t>
            </a:r>
            <a:endParaRPr lang="en-US" sz="6000" dirty="0"/>
          </a:p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 trust.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667512" y="400507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DCE9E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living evidence network for people, institutions, developers and AI agents.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58368" y="5715000"/>
            <a:ext cx="2514600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5760720"/>
            <a:ext cx="2276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INCUBATION PRODUCT VISION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561320" y="647395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502920"/>
            <a:ext cx="7863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/ THE INTERNET HAS A CONTEXT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3504" y="960120"/>
            <a:ext cx="51480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7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Claims travel</a:t>
            </a:r>
            <a:endParaRPr lang="en-US" sz="4700" dirty="0"/>
          </a:p>
          <a:p>
            <a:pPr algn="l" indent="0" marL="0">
              <a:buNone/>
            </a:pPr>
            <a:r>
              <a:rPr lang="en-US" sz="47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than evidence.</a:t>
            </a:r>
            <a:endParaRPr lang="en-US" sz="4700" dirty="0"/>
          </a:p>
        </p:txBody>
      </p:sp>
      <p:sp>
        <p:nvSpPr>
          <p:cNvPr id="6" name="Text 4"/>
          <p:cNvSpPr/>
          <p:nvPr/>
        </p:nvSpPr>
        <p:spPr>
          <a:xfrm>
            <a:off x="621792" y="29260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claim is copied, cropped, translated and repeated. Its source, date and uncertainty fall away.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89320" y="1490472"/>
            <a:ext cx="1755648" cy="1920240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53912" y="16550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3912" y="2093976"/>
            <a:ext cx="1371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post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153912" y="256946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“This happened today.”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63256" y="2468880"/>
            <a:ext cx="128016" cy="0"/>
          </a:xfrm>
          <a:prstGeom prst="line">
            <a:avLst/>
          </a:prstGeom>
          <a:noFill/>
          <a:ln w="2540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7891272" y="2084832"/>
            <a:ext cx="1755648" cy="1920240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24942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55864" y="2688336"/>
            <a:ext cx="1371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screenshot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55864" y="31638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original source disappears.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665208" y="3063240"/>
            <a:ext cx="128016" cy="0"/>
          </a:xfrm>
          <a:prstGeom prst="line">
            <a:avLst/>
          </a:prstGeom>
          <a:noFill/>
          <a:ln w="2540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793224" y="2679192"/>
            <a:ext cx="1755648" cy="1920240"/>
          </a:xfrm>
          <a:prstGeom prst="roundRect">
            <a:avLst>
              <a:gd name="adj" fmla="val 7813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57816" y="28437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957816" y="3282696"/>
            <a:ext cx="1371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decision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957816" y="375818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Someone acts on the claim.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" y="5065776"/>
            <a:ext cx="5047488" cy="786384"/>
          </a:xfrm>
          <a:prstGeom prst="roundRect">
            <a:avLst>
              <a:gd name="adj" fmla="val 18605"/>
            </a:avLst>
          </a:prstGeom>
          <a:solidFill>
            <a:srgbClr val="10231E"/>
          </a:solidFill>
          <a:ln w="12700">
            <a:solidFill>
              <a:srgbClr val="1023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5230368"/>
            <a:ext cx="4572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reconnects the claim to its evidence.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TODAY  /  FUNCTIONAL MVP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950976"/>
            <a:ext cx="59893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Evidence Passport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for every digital claim.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621792" y="270662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Submit text, a URL or an image. Mesh breaks it into claims, retrieves sources, compares independent Gonka model assessments and publishes an inspectable Passport.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1792" y="4828032"/>
            <a:ext cx="2331720" cy="429768"/>
          </a:xfrm>
          <a:prstGeom prst="roundRect">
            <a:avLst>
              <a:gd name="adj" fmla="val 34043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0664" y="48828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Multi-model assessment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63240" y="4828032"/>
            <a:ext cx="1874520" cy="429768"/>
          </a:xfrm>
          <a:prstGeom prst="roundRect">
            <a:avLst>
              <a:gd name="adj" fmla="val 34043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82112" y="4882896"/>
            <a:ext cx="16459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Public Passport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" y="5376672"/>
            <a:ext cx="2011680" cy="429768"/>
          </a:xfrm>
          <a:prstGeom prst="roundRect">
            <a:avLst>
              <a:gd name="adj" fmla="val 34043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" y="543153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Sepolia integrity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658368"/>
            <a:ext cx="5230368" cy="5440680"/>
          </a:xfrm>
          <a:prstGeom prst="roundRect">
            <a:avLst>
              <a:gd name="adj" fmla="val 3497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pic>
        <p:nvPicPr>
          <p:cNvPr id="14" name="Image 0" descr="/Users/macbook/Desktop/Projects/AI3-hack/docs/pitch/assets/mesh-landing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795528"/>
            <a:ext cx="4956048" cy="51663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046720" y="619963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BRAND VISUAL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PRODUCT SHIFT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941832"/>
            <a:ext cx="79552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one-time check</a:t>
            </a:r>
            <a:endParaRPr lang="en-US" sz="4600" dirty="0"/>
          </a:p>
          <a:p>
            <a:pPr algn="l" indent="0" marL="0">
              <a:buNone/>
            </a:pPr>
            <a:r>
              <a:rPr lang="en-US" sz="46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living evidence.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21792" y="2660904"/>
            <a:ext cx="57150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next capabilities form one connected system. Each new surface reads the same claim, evidence, method and Passport history.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12648" y="4288536"/>
            <a:ext cx="2633472" cy="1298448"/>
          </a:xfrm>
          <a:prstGeom prst="roundRect">
            <a:avLst>
              <a:gd name="adj" fmla="val 12676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988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" y="4901184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Claims + adaptive research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74720" y="4288536"/>
            <a:ext cx="2633472" cy="1298448"/>
          </a:xfrm>
          <a:prstGeom prst="roundRect">
            <a:avLst>
              <a:gd name="adj" fmla="val 12676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4988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REMEMBER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4901184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Graph + source lineage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36792" y="4288536"/>
            <a:ext cx="2633472" cy="1298448"/>
          </a:xfrm>
          <a:prstGeom prst="roundRect">
            <a:avLst>
              <a:gd name="adj" fmla="val 12676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19672" y="44988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UPDATE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19672" y="4901184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Versions + watches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98864" y="4288536"/>
            <a:ext cx="2633472" cy="1298448"/>
          </a:xfrm>
          <a:prstGeom prst="roundRect">
            <a:avLst>
              <a:gd name="adj" fmla="val 12676"/>
            </a:avLst>
          </a:prstGeom>
          <a:solidFill>
            <a:srgbClr val="10231E"/>
          </a:solidFill>
          <a:ln w="12700">
            <a:solidFill>
              <a:srgbClr val="1023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44988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381744" y="4901184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Policies + attestations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0936" y="5907024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Evidence-based assessment   ≠   cryptographic integrity   ≠   real-world truth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F01  /  MESH MEMORY + CLAIM GRAPH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internet repeats.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Mesh remembers.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Equivalent claims, translations and media variants resolve to the same proposition only when their meaning, place and time truly match.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26880" y="1700784"/>
            <a:ext cx="-384048" cy="2359152"/>
          </a:xfrm>
          <a:prstGeom prst="line">
            <a:avLst/>
          </a:prstGeom>
          <a:noFill/>
          <a:ln w="2032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7863840" y="2798064"/>
            <a:ext cx="850392" cy="1261872"/>
          </a:xfrm>
          <a:prstGeom prst="line">
            <a:avLst/>
          </a:prstGeom>
          <a:noFill/>
          <a:ln w="2032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820656" y="3456432"/>
            <a:ext cx="-566928" cy="603504"/>
          </a:xfrm>
          <a:prstGeom prst="line">
            <a:avLst/>
          </a:prstGeom>
          <a:noFill/>
          <a:ln w="2032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8348472" y="1115568"/>
            <a:ext cx="2148840" cy="713232"/>
          </a:xfrm>
          <a:prstGeom prst="roundRect">
            <a:avLst>
              <a:gd name="adj" fmla="val 23077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22208" y="1225296"/>
            <a:ext cx="5120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522208" y="14356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Scholarship cancelled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2203704"/>
            <a:ext cx="2148840" cy="713232"/>
          </a:xfrm>
          <a:prstGeom prst="roundRect">
            <a:avLst>
              <a:gd name="adj" fmla="val 23077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91656" y="2313432"/>
            <a:ext cx="5120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391656" y="252374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fagile sikolashipu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2834640"/>
            <a:ext cx="2148840" cy="713232"/>
          </a:xfrm>
          <a:prstGeom prst="roundRect">
            <a:avLst>
              <a:gd name="adj" fmla="val 23077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0576" y="2944368"/>
            <a:ext cx="5120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POST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80576" y="3154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Cropped screenshot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589520" y="3977640"/>
            <a:ext cx="2880360" cy="713232"/>
          </a:xfrm>
          <a:prstGeom prst="roundRect">
            <a:avLst>
              <a:gd name="adj" fmla="val 23077"/>
            </a:avLst>
          </a:prstGeom>
          <a:solidFill>
            <a:srgbClr val="35E3A0"/>
          </a:solidFill>
          <a:ln w="12700">
            <a:solidFill>
              <a:srgbClr val="35E3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63256" y="4087368"/>
            <a:ext cx="5120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763256" y="42976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Canonical proposition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1792" y="4279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ONLY WITH CONTEXT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" y="4718304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automatic merge across negation or incompatible dates.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F02  /  ADAPTIVE EVIDENCE RESEARCH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Research that knows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missing.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typed plan seeks primary sources, counterevidence and coverage of every critical claim slot. Weak evidence produces an honest abstention.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2511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CLAIM ABOUT A POLICY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690872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Who?  What?  Where?  When?  Under which condition?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46520" y="868680"/>
            <a:ext cx="5056632" cy="5193792"/>
          </a:xfrm>
          <a:prstGeom prst="roundRect">
            <a:avLst>
              <a:gd name="adj" fmla="val 3978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1152144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PLAN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02552" y="1636776"/>
            <a:ext cx="4526280" cy="676656"/>
          </a:xfrm>
          <a:prstGeom prst="roundRect">
            <a:avLst>
              <a:gd name="adj" fmla="val 16216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85432" y="180136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0" y="1764792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Official record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829800" y="1792224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Found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02552" y="2496312"/>
            <a:ext cx="4526280" cy="676656"/>
          </a:xfrm>
          <a:prstGeom prst="roundRect">
            <a:avLst>
              <a:gd name="adj" fmla="val 16216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85432" y="266090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0" y="262432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Effective date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829800" y="2651760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F2C6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Missing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02552" y="3355848"/>
            <a:ext cx="4526280" cy="676656"/>
          </a:xfrm>
          <a:prstGeom prst="roundRect">
            <a:avLst>
              <a:gd name="adj" fmla="val 16216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85432" y="352044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06640" y="3483864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Counter-search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29800" y="3511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02552" y="4215384"/>
            <a:ext cx="4526280" cy="676656"/>
          </a:xfrm>
          <a:prstGeom prst="roundRect">
            <a:avLst>
              <a:gd name="adj" fmla="val 16216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5432" y="437997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06640" y="4343400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Source independence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829800" y="4370832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 families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702552" y="5276088"/>
            <a:ext cx="2542032" cy="338328"/>
          </a:xfrm>
          <a:prstGeom prst="roundRect">
            <a:avLst>
              <a:gd name="adj" fmla="val 48649"/>
            </a:avLst>
          </a:prstGeom>
          <a:solidFill>
            <a:srgbClr val="35E3A0"/>
          </a:solidFill>
          <a:ln w="12700">
            <a:solidFill>
              <a:srgbClr val="35E3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21424" y="5321808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SEARCH MORE  /  ABSTAIN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F03  /  EVIDENCEPROOF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citation earns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its place.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cited sentence links to an exact source excerpt, retrieval record, preserved snapshot when permitted and the source family it came from.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4340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FIVE URLS ARE NOT FIVE CONFIRMATIONS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274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Source lineage reveals when reports all repeat one origin.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36792" y="950976"/>
            <a:ext cx="5230368" cy="4992624"/>
          </a:xfrm>
          <a:prstGeom prst="roundRect">
            <a:avLst>
              <a:gd name="adj" fmla="val 3297"/>
            </a:avLst>
          </a:prstGeom>
          <a:solidFill>
            <a:srgbClr val="F2F4EE"/>
          </a:solidFill>
          <a:ln w="12700">
            <a:solidFill>
              <a:srgbClr val="F2F4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84264" y="12618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 #04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848088" y="1179576"/>
            <a:ext cx="1207008" cy="338328"/>
          </a:xfrm>
          <a:prstGeom prst="roundRect">
            <a:avLst>
              <a:gd name="adj" fmla="val 48649"/>
            </a:avLst>
          </a:prstGeom>
          <a:solidFill>
            <a:srgbClr val="DCE9E1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66960" y="1225296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VERBATIM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84264" y="1874520"/>
            <a:ext cx="4389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“The decision takes effect on 1 March...”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684264" y="3072384"/>
            <a:ext cx="4453128" cy="0"/>
          </a:xfrm>
          <a:prstGeom prst="line">
            <a:avLst/>
          </a:prstGeom>
          <a:noFill/>
          <a:ln w="12700">
            <a:solidFill>
              <a:srgbClr val="DCE9E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6684264" y="3383280"/>
            <a:ext cx="1216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SOURCE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147304" y="335584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Official notice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84264" y="3895344"/>
            <a:ext cx="1216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CAPTURED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147304" y="386791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Oct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84264" y="4407408"/>
            <a:ext cx="1216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LINEAGE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147304" y="4379976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Original publication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84264" y="4919472"/>
            <a:ext cx="1216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CONTENT HASH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147304" y="489204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sha3: 7b42…d91a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F04  /  LIVING PASSPORTS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finding can change.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record cannot.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Each refresh creates a new immutable Passport version. Readers see what evidence moved, what stayed uncertain and which version was relied 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1596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CURRENT VIEW IS A POINTER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00016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Prior hashes and conclusions remain verifiable.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543800" y="2377440"/>
            <a:ext cx="960120" cy="795528"/>
          </a:xfrm>
          <a:prstGeom prst="line">
            <a:avLst/>
          </a:prstGeom>
          <a:noFill/>
          <a:ln w="2540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6519672" y="1965960"/>
            <a:ext cx="1481328" cy="960120"/>
          </a:xfrm>
          <a:prstGeom prst="roundRect">
            <a:avLst>
              <a:gd name="adj" fmla="val 17143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84264" y="21031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84264" y="2377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JUL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19672" y="30266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Original assessment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390888" y="3172968"/>
            <a:ext cx="731520" cy="914400"/>
          </a:xfrm>
          <a:prstGeom prst="line">
            <a:avLst/>
          </a:prstGeom>
          <a:noFill/>
          <a:ln w="2540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8366760" y="2761488"/>
            <a:ext cx="1481328" cy="960120"/>
          </a:xfrm>
          <a:prstGeom prst="roundRect">
            <a:avLst>
              <a:gd name="adj" fmla="val 17143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28986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31352" y="31729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OCT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66760" y="38221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New primary source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85248" y="3675888"/>
            <a:ext cx="1481328" cy="960120"/>
          </a:xfrm>
          <a:prstGeom prst="roundRect">
            <a:avLst>
              <a:gd name="adj" fmla="val 17143"/>
            </a:avLst>
          </a:prstGeom>
          <a:solidFill>
            <a:srgbClr val="35E3A0"/>
          </a:solidFill>
          <a:ln w="12700">
            <a:solidFill>
              <a:srgbClr val="35E3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49840" y="3813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49840" y="40873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NOW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985248" y="47365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Correction + delta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F05  /  PASSPORT WATCH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the evidence moves,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people know.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Follow a claim. Receive one meaningful alert when a source corrects, a dispute opens or a Passport becomes stale.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1596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MATERIAL CHANGES ONLY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672584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quiet subscription until trust changes.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987552"/>
            <a:ext cx="4251960" cy="5020056"/>
          </a:xfrm>
          <a:prstGeom prst="roundRect">
            <a:avLst>
              <a:gd name="adj" fmla="val 6022"/>
            </a:avLst>
          </a:prstGeom>
          <a:solidFill>
            <a:srgbClr val="F2F4EE"/>
          </a:solidFill>
          <a:ln w="12700">
            <a:solidFill>
              <a:srgbClr val="F2F4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57416" y="1234440"/>
            <a:ext cx="3877056" cy="612648"/>
          </a:xfrm>
          <a:prstGeom prst="roundRect">
            <a:avLst>
              <a:gd name="adj" fmla="val 22388"/>
            </a:avLst>
          </a:prstGeom>
          <a:solidFill>
            <a:srgbClr val="DCE9E1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58584" y="1380744"/>
            <a:ext cx="3429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Watching  /  Scholarship notice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57416" y="2048256"/>
            <a:ext cx="3877056" cy="2066544"/>
          </a:xfrm>
          <a:prstGeom prst="roundRect">
            <a:avLst>
              <a:gd name="adj" fmla="val 7522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8584" y="2313432"/>
            <a:ext cx="347472" cy="347472"/>
          </a:xfrm>
          <a:prstGeom prst="ellipse">
            <a:avLst>
              <a:gd name="adj" fmla="val 31579"/>
            </a:avLst>
          </a:prstGeom>
          <a:solidFill>
            <a:srgbClr val="35E3A0"/>
          </a:solidFill>
          <a:ln w="12700">
            <a:solidFill>
              <a:srgbClr val="35E3A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24028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Source correction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58584" y="2843784"/>
            <a:ext cx="336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official deadline changed. Passport v2 is ready with the evidence delta.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0296" y="4416552"/>
            <a:ext cx="2221992" cy="338328"/>
          </a:xfrm>
          <a:prstGeom prst="roundRect">
            <a:avLst>
              <a:gd name="adj" fmla="val 48649"/>
            </a:avLst>
          </a:prstGeom>
          <a:solidFill>
            <a:srgbClr val="10231E"/>
          </a:solidFill>
          <a:ln w="12700">
            <a:solidFill>
              <a:srgbClr val="10231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59168" y="4462272"/>
            <a:ext cx="1984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VIEW PASSPORT v2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22008" y="5276088"/>
            <a:ext cx="3529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TELEGRAM  ·  WEB  ·  SIGNED WEBHOOK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F06  /  REAL IMAGE VERIFICATION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real image can carry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false story.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Visual media gets separate findings for image provenance, context match, embedded text and the factual claim in its caption.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297680"/>
            <a:ext cx="4846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AUTHENTICITY  ≠  CONTEXT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681728"/>
            <a:ext cx="4800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“No C2PA credential” is not evidence of a fake image.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91656" y="896112"/>
            <a:ext cx="5239512" cy="5001768"/>
          </a:xfrm>
          <a:prstGeom prst="roundRect">
            <a:avLst>
              <a:gd name="adj" fmla="val 3473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pic>
        <p:nvPicPr>
          <p:cNvPr id="13" name="Image 0" descr="/Users/macbook/Desktop/Projects/AI3-hack/docs/pitch/assets/research-edi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097280"/>
            <a:ext cx="4846320" cy="2057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583680" y="3355848"/>
            <a:ext cx="2240280" cy="1124712"/>
          </a:xfrm>
          <a:prstGeom prst="roundRect">
            <a:avLst>
              <a:gd name="adj" fmla="val 10569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75704" y="352958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IMAGE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775704" y="3867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May be genuine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70264" y="3355848"/>
            <a:ext cx="2276856" cy="1124712"/>
          </a:xfrm>
          <a:prstGeom prst="roundRect">
            <a:avLst>
              <a:gd name="adj" fmla="val 10569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80576" y="352958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2C6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CAPTION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180576" y="3867912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disputed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675120" y="4837176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Earliest known indexed use · not absolute origin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F07  /  MESH LENS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where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claim appears.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opt-in browser layer finds a current Passport for selected text, images or URLs. People can inspect context without leaving the page.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52544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SELECT  →  LOOK UP  →  EXPLORE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18304"/>
            <a:ext cx="4800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Trust Tags show freshness and limits, not a magic verdict.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45936" y="941832"/>
            <a:ext cx="5193792" cy="4910328"/>
          </a:xfrm>
          <a:prstGeom prst="roundRect">
            <a:avLst>
              <a:gd name="adj" fmla="val 2980"/>
            </a:avLst>
          </a:prstGeom>
          <a:solidFill>
            <a:srgbClr val="F2F4EE"/>
          </a:solidFill>
          <a:ln w="12700">
            <a:solidFill>
              <a:srgbClr val="F2F4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45936" y="941832"/>
            <a:ext cx="5193792" cy="384048"/>
          </a:xfrm>
          <a:prstGeom prst="roundRect">
            <a:avLst>
              <a:gd name="adj" fmla="val 38095"/>
            </a:avLst>
          </a:prstGeom>
          <a:solidFill>
            <a:srgbClr val="DCE9E1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1069848"/>
            <a:ext cx="82296" cy="82296"/>
          </a:xfrm>
          <a:prstGeom prst="ellipse">
            <a:avLst>
              <a:gd name="adj" fmla="val 133333"/>
            </a:avLst>
          </a:prstGeom>
          <a:solidFill>
            <a:srgbClr val="F49C8A"/>
          </a:solidFill>
          <a:ln w="12700">
            <a:solidFill>
              <a:srgbClr val="F49C8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93408" y="1069848"/>
            <a:ext cx="82296" cy="82296"/>
          </a:xfrm>
          <a:prstGeom prst="ellipse">
            <a:avLst>
              <a:gd name="adj" fmla="val 133333"/>
            </a:avLst>
          </a:prstGeom>
          <a:solidFill>
            <a:srgbClr val="F2C66A"/>
          </a:solidFill>
          <a:ln w="12700">
            <a:solidFill>
              <a:srgbClr val="F2C66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48856" y="1069848"/>
            <a:ext cx="82296" cy="82296"/>
          </a:xfrm>
          <a:prstGeom prst="ellipse">
            <a:avLst>
              <a:gd name="adj" fmla="val 133333"/>
            </a:avLst>
          </a:prstGeom>
          <a:solidFill>
            <a:srgbClr val="35E3A0"/>
          </a:solidFill>
          <a:ln w="12700">
            <a:solidFill>
              <a:srgbClr val="35E3A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11696" y="1645920"/>
            <a:ext cx="3886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News article headline with a selected claim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6729984" y="2889504"/>
            <a:ext cx="4398264" cy="365760"/>
          </a:xfrm>
          <a:prstGeom prst="roundRect">
            <a:avLst>
              <a:gd name="adj" fmla="val 15000"/>
            </a:avLst>
          </a:prstGeom>
          <a:solidFill>
            <a:srgbClr val="DCE9E1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2944368"/>
            <a:ext cx="4096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“Scholarship programme has ended.”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854696" y="3502152"/>
            <a:ext cx="3236976" cy="1719072"/>
          </a:xfrm>
          <a:prstGeom prst="roundRect">
            <a:avLst>
              <a:gd name="adj" fmla="val 9043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28432" y="3712464"/>
            <a:ext cx="2359152" cy="338328"/>
          </a:xfrm>
          <a:prstGeom prst="roundRect">
            <a:avLst>
              <a:gd name="adj" fmla="val 48649"/>
            </a:avLst>
          </a:prstGeom>
          <a:solidFill>
            <a:srgbClr val="35E3A0"/>
          </a:solidFill>
          <a:ln w="12700">
            <a:solidFill>
              <a:srgbClr val="35E3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7304" y="3758184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CONTEXT AVAILABLE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46720" y="42245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Current Passport · 3 source families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470001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Open evidence and limitations →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F08  /  SHARE TO MESH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Forward the claim.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 context back.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Web, Telegram and an authorized WhatsApp pilot use one verification backend. Replies carry a short grounded summary and the full Passport.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251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PIPELINE  /  EVERY ENTRY POINT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6908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silent reading of private chats.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46520" y="1207008"/>
            <a:ext cx="1527048" cy="4224528"/>
          </a:xfrm>
          <a:prstGeom prst="roundRect">
            <a:avLst>
              <a:gd name="adj" fmla="val 13772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499616"/>
            <a:ext cx="1216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WEB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92824" y="2020824"/>
            <a:ext cx="1234440" cy="804672"/>
          </a:xfrm>
          <a:prstGeom prst="roundRect">
            <a:avLst>
              <a:gd name="adj" fmla="val 13636"/>
            </a:avLst>
          </a:prstGeom>
          <a:solidFill>
            <a:srgbClr val="07110F"/>
          </a:solidFill>
          <a:ln w="12700">
            <a:solidFill>
              <a:srgbClr val="07110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93408" y="21762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 or image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92824" y="3118104"/>
            <a:ext cx="1234440" cy="1426464"/>
          </a:xfrm>
          <a:prstGeom prst="roundRect">
            <a:avLst>
              <a:gd name="adj" fmla="val 8889"/>
            </a:avLst>
          </a:prstGeom>
          <a:solidFill>
            <a:srgbClr val="07110F"/>
          </a:solidFill>
          <a:ln w="12700">
            <a:solidFill>
              <a:srgbClr val="07110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337560"/>
            <a:ext cx="100584" cy="100584"/>
          </a:xfrm>
          <a:prstGeom prst="ellipse">
            <a:avLst>
              <a:gd name="adj" fmla="val 109091"/>
            </a:avLst>
          </a:prstGeom>
          <a:solidFill>
            <a:srgbClr val="35E3A0"/>
          </a:solidFill>
          <a:ln w="12700">
            <a:solidFill>
              <a:srgbClr val="35E3A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6288" y="3273552"/>
            <a:ext cx="7955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card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02552" y="38221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As-of date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Sources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Passport link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83880" y="1207008"/>
            <a:ext cx="1527048" cy="4224528"/>
          </a:xfrm>
          <a:prstGeom prst="roundRect">
            <a:avLst>
              <a:gd name="adj" fmla="val 13772"/>
            </a:avLst>
          </a:prstGeom>
          <a:solidFill>
            <a:srgbClr val="F2F4EE"/>
          </a:solidFill>
          <a:ln w="12700">
            <a:solidFill>
              <a:srgbClr val="F2F4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48472" y="1499616"/>
            <a:ext cx="1216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TELEGRAM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330184" y="2020824"/>
            <a:ext cx="1234440" cy="804672"/>
          </a:xfrm>
          <a:prstGeom prst="roundRect">
            <a:avLst>
              <a:gd name="adj" fmla="val 13636"/>
            </a:avLst>
          </a:prstGeom>
          <a:solidFill>
            <a:srgbClr val="DCE9E1"/>
          </a:solidFill>
          <a:ln w="12700">
            <a:solidFill>
              <a:srgbClr val="DCE9E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30768" y="21762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 or image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330184" y="3118104"/>
            <a:ext cx="1234440" cy="1426464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58200" y="3337560"/>
            <a:ext cx="100584" cy="100584"/>
          </a:xfrm>
          <a:prstGeom prst="ellipse">
            <a:avLst>
              <a:gd name="adj" fmla="val 109091"/>
            </a:avLst>
          </a:prstGeom>
          <a:solidFill>
            <a:srgbClr val="35E3A0"/>
          </a:solidFill>
          <a:ln w="12700">
            <a:solidFill>
              <a:srgbClr val="35E3A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3648" y="3273552"/>
            <a:ext cx="7955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card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39912" y="38221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As-of date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Sources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Passport link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921240" y="1207008"/>
            <a:ext cx="1527048" cy="4224528"/>
          </a:xfrm>
          <a:prstGeom prst="roundRect">
            <a:avLst>
              <a:gd name="adj" fmla="val 13772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85832" y="1499616"/>
            <a:ext cx="1216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WHATSAPP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67544" y="2020824"/>
            <a:ext cx="1234440" cy="804672"/>
          </a:xfrm>
          <a:prstGeom prst="roundRect">
            <a:avLst>
              <a:gd name="adj" fmla="val 13636"/>
            </a:avLst>
          </a:prstGeom>
          <a:solidFill>
            <a:srgbClr val="07110F"/>
          </a:solidFill>
          <a:ln w="12700">
            <a:solidFill>
              <a:srgbClr val="07110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68128" y="21762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 or image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067544" y="3118104"/>
            <a:ext cx="1234440" cy="1426464"/>
          </a:xfrm>
          <a:prstGeom prst="roundRect">
            <a:avLst>
              <a:gd name="adj" fmla="val 8889"/>
            </a:avLst>
          </a:prstGeom>
          <a:solidFill>
            <a:srgbClr val="07110F"/>
          </a:solidFill>
          <a:ln w="12700">
            <a:solidFill>
              <a:srgbClr val="07110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95560" y="3337560"/>
            <a:ext cx="100584" cy="100584"/>
          </a:xfrm>
          <a:prstGeom prst="ellipse">
            <a:avLst>
              <a:gd name="adj" fmla="val 109091"/>
            </a:avLst>
          </a:prstGeom>
          <a:solidFill>
            <a:srgbClr val="35E3A0"/>
          </a:solidFill>
          <a:ln w="12700">
            <a:solidFill>
              <a:srgbClr val="35E3A0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51008" y="3273552"/>
            <a:ext cx="7955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card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177272" y="38221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As-of date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Sources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Passport link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46520" y="5696712"/>
            <a:ext cx="5065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WHATSAPP REQUIRES PROVIDER APPROVAL + OPT-IN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F09  /  MESH GUARD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pause before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risky action.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focused wedge: proposed “Before You Share.” Mesh surfaces misleading context, missing proof and staleness when a person is about to forward content.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15968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F2C6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PRODUCT CHOICE TO CONFIRM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00016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alternative wedge is Opportunity / Scam Check.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37960" y="1106424"/>
            <a:ext cx="4645152" cy="4572000"/>
          </a:xfrm>
          <a:prstGeom prst="roundRect">
            <a:avLst>
              <a:gd name="adj" fmla="val 3800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14264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BEFORE YOU SHARE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0" y="193852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claim has context</a:t>
            </a:r>
            <a:endParaRPr lang="en-US" sz="2700" dirty="0"/>
          </a:p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 should see.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6885432" y="3200400"/>
            <a:ext cx="100584" cy="100584"/>
          </a:xfrm>
          <a:prstGeom prst="ellipse">
            <a:avLst>
              <a:gd name="adj" fmla="val 109091"/>
            </a:avLst>
          </a:prstGeom>
          <a:solidFill>
            <a:srgbClr val="35E3A0"/>
          </a:solidFill>
          <a:ln w="12700">
            <a:solidFill>
              <a:srgbClr val="35E3A0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04888" y="3118104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NEW EVIDENCE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21624" y="30998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Official notice corrected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85432" y="3858768"/>
            <a:ext cx="100584" cy="100584"/>
          </a:xfrm>
          <a:prstGeom prst="ellipse">
            <a:avLst>
              <a:gd name="adj" fmla="val 109091"/>
            </a:avLst>
          </a:prstGeom>
          <a:solidFill>
            <a:srgbClr val="F2C66A"/>
          </a:solidFill>
          <a:ln w="12700">
            <a:solidFill>
              <a:srgbClr val="F2C66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04888" y="3776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2C6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UNKNOWN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21624" y="375818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Original date unclear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85432" y="4517136"/>
            <a:ext cx="100584" cy="100584"/>
          </a:xfrm>
          <a:prstGeom prst="ellipse">
            <a:avLst>
              <a:gd name="adj" fmla="val 109091"/>
            </a:avLst>
          </a:prstGeom>
          <a:solidFill>
            <a:srgbClr val="35E3A0"/>
          </a:solidFill>
          <a:ln w="12700">
            <a:solidFill>
              <a:srgbClr val="35E3A0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04888" y="4434840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 STEP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21624" y="4416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Share with Passport link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F10  /  MCP + TRUST POLICY ENGINE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Give agents evidence.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Keep humans in control.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Typed tools return exact Passport versions, evidence and policy decisions. High-risk actions fail closed or escalate when information is stale or incomplete.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342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POLICY GATE IS ADVISORY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0916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supported verdict alone never authorizes a transaction.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64224" y="941832"/>
            <a:ext cx="5166360" cy="4919472"/>
          </a:xfrm>
          <a:prstGeom prst="roundRect">
            <a:avLst>
              <a:gd name="adj" fmla="val 3160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56832" y="120700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mesh.evaluate_policy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66560" y="17647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9BB4A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passportVersion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45168" y="17647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"v3"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93408" y="2221992"/>
            <a:ext cx="4489704" cy="0"/>
          </a:xfrm>
          <a:prstGeom prst="line">
            <a:avLst/>
          </a:prstGeom>
          <a:noFill/>
          <a:ln w="889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6766560" y="23865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9BB4A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freshness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45168" y="238658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"current"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93408" y="2843784"/>
            <a:ext cx="4489704" cy="0"/>
          </a:xfrm>
          <a:prstGeom prst="line">
            <a:avLst/>
          </a:prstGeom>
          <a:noFill/>
          <a:ln w="889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766560" y="30083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9BB4A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sourceFamilies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45168" y="300837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93408" y="3465576"/>
            <a:ext cx="4489704" cy="0"/>
          </a:xfrm>
          <a:prstGeom prst="line">
            <a:avLst/>
          </a:prstGeom>
          <a:noFill/>
          <a:ln w="889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6766560" y="36301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9BB4A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requiredFamilies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45168" y="363016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93408" y="4087368"/>
            <a:ext cx="4489704" cy="0"/>
          </a:xfrm>
          <a:prstGeom prst="line">
            <a:avLst/>
          </a:prstGeom>
          <a:noFill/>
          <a:ln w="889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6766560" y="42519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9BB4A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45168" y="425196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C6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"ESCALATE"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15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F11  /  METHODHASH + ATTESTATIONS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Verify the method,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just the artifact.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Signed Passports bind an exact assessment and method version. Third parties can check hashes and attestations without confusing integrity with truth.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1596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ETHEREUM SEPOLIA  /  TESTNET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681728"/>
            <a:ext cx="4782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Chain confirmation proves publication and integrity.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56248" y="960120"/>
            <a:ext cx="4507992" cy="4782312"/>
          </a:xfrm>
          <a:prstGeom prst="roundRect">
            <a:avLst>
              <a:gd name="adj" fmla="val 3448"/>
            </a:avLst>
          </a:prstGeom>
          <a:solidFill>
            <a:srgbClr val="F2F4EE"/>
          </a:solidFill>
          <a:ln w="12700">
            <a:solidFill>
              <a:srgbClr val="F2F4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48856" y="1252728"/>
            <a:ext cx="3273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PASSPORT  /  v2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48856" y="1819656"/>
            <a:ext cx="3474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Method manifest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48856" y="2532888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SCHEMA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458200" y="2487168"/>
            <a:ext cx="21762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48856" y="3072384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SCORING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458200" y="3026664"/>
            <a:ext cx="21762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manifest: 4d21…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48856" y="3611880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ROOT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458200" y="3566160"/>
            <a:ext cx="21762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0x1a83…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48856" y="415137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METHODHASH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458200" y="4105656"/>
            <a:ext cx="21762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0xc423…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39712" y="5001768"/>
            <a:ext cx="1901952" cy="338328"/>
          </a:xfrm>
          <a:prstGeom prst="roundRect">
            <a:avLst>
              <a:gd name="adj" fmla="val 48649"/>
            </a:avLst>
          </a:prstGeom>
          <a:solidFill>
            <a:srgbClr val="35E3A0"/>
          </a:solidFill>
          <a:ln w="12700">
            <a:solidFill>
              <a:srgbClr val="35E3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58584" y="5047488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SIGNATURE VALID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16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F12  /  MESH BENCH + EVIDENCE FIREWALL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52176" y="493776"/>
            <a:ext cx="1014984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71048" y="5394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 accuracy.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Defend the pipeline.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Frozen benchmarks expose retrieval and verdict failures. The evidence firewall treats pages, OCR and documents as untrusted input.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251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QUALITY BEFORE SCALE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00016"/>
            <a:ext cx="4791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Abstention, citation exactness and calibration are first-class metrics.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9944" y="969264"/>
            <a:ext cx="5038344" cy="4919472"/>
          </a:xfrm>
          <a:prstGeom prst="roundRect">
            <a:avLst>
              <a:gd name="adj" fmla="val 3346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84264" y="122529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BENCH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84264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Citation exactness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976104" y="1664208"/>
            <a:ext cx="1060704" cy="338328"/>
          </a:xfrm>
          <a:prstGeom prst="roundRect">
            <a:avLst>
              <a:gd name="adj" fmla="val 48649"/>
            </a:avLst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94976" y="17099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TRACKED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84264" y="2404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Retrieval recall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976104" y="2377440"/>
            <a:ext cx="1060704" cy="338328"/>
          </a:xfrm>
          <a:prstGeom prst="roundRect">
            <a:avLst>
              <a:gd name="adj" fmla="val 48649"/>
            </a:avLst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94976" y="24231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TRACKED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84264" y="3118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Appropriate abstention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976104" y="3090672"/>
            <a:ext cx="1060704" cy="338328"/>
          </a:xfrm>
          <a:prstGeom prst="roundRect">
            <a:avLst>
              <a:gd name="adj" fmla="val 48649"/>
            </a:avLst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94976" y="313639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TRACKED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684264" y="4023360"/>
            <a:ext cx="442569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6684264" y="4297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F2C6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FIREWALL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684264" y="4700016"/>
            <a:ext cx="4251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Untrusted source text cannot rewrite instructions, tools or scoring.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597103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CONCEPT VISUAL — NO BENCHMARK RESULTS SHOWN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book/Desktop/Projects/AI3-hack/docs/pitch/assets/network-scul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513832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49240" y="0"/>
            <a:ext cx="457200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21792" y="5669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NEXT FIVE CAPABILITIES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21792" y="1252728"/>
            <a:ext cx="617220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Gated pilots.</a:t>
            </a:r>
            <a:endParaRPr lang="en-US" sz="5500" dirty="0"/>
          </a:p>
          <a:p>
            <a:pPr algn="l" indent="0" marL="0">
              <a:buNone/>
            </a:pPr>
            <a:r>
              <a:rPr lang="en-US" sz="5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 on proof.</a:t>
            </a:r>
            <a:endParaRPr lang="en-US" sz="5500" dirty="0"/>
          </a:p>
        </p:txBody>
      </p:sp>
      <p:sp>
        <p:nvSpPr>
          <p:cNvPr id="7" name="Text 4"/>
          <p:cNvSpPr/>
          <p:nvPr/>
        </p:nvSpPr>
        <p:spPr>
          <a:xfrm>
            <a:off x="658368" y="3959352"/>
            <a:ext cx="52029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DCE9E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 will pursue F13–F17 after the earlier capabilities are solid: evidence lineage, living versions, explicit policies, security and measurable quality.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58368" y="5833872"/>
            <a:ext cx="4334256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587959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PILOT SCOPE  /  NO AUTOMATIC HIGH-STAKES ACTIONS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2648" y="6510528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881360" y="6510528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  / 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18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F13  /  GATED PILOT · CASES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158984" y="493776"/>
            <a:ext cx="1408176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77856" y="53949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GATED PILOT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Auditable cases for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real-world decisions.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Grant, DAO and narrowly defined insurance cases gather structured evidence and human review. The domain owner retains authority to approve or pay.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43400"/>
            <a:ext cx="4718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CASE OUTCOME  ≠  AUTOMATIC PAYOUT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09160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Missing records produce NEEDS INFO; disputes stay visible.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46520" y="1024128"/>
            <a:ext cx="4992624" cy="4882896"/>
          </a:xfrm>
          <a:prstGeom prst="roundRect">
            <a:avLst>
              <a:gd name="adj" fmla="val 3371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128930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GRANT MILESTONE CASE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1783080"/>
            <a:ext cx="4123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 kits delivered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 the agreed date</a:t>
            </a:r>
            <a:endParaRPr lang="en-US" sz="2500" dirty="0"/>
          </a:p>
        </p:txBody>
      </p:sp>
      <p:sp>
        <p:nvSpPr>
          <p:cNvPr id="15" name="Shape 13"/>
          <p:cNvSpPr/>
          <p:nvPr/>
        </p:nvSpPr>
        <p:spPr>
          <a:xfrm>
            <a:off x="6711696" y="2980944"/>
            <a:ext cx="4352544" cy="521208"/>
          </a:xfrm>
          <a:prstGeom prst="roundRect">
            <a:avLst>
              <a:gd name="adj" fmla="val 17544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864" y="30998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 logs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72600" y="309981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Received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11696" y="3639312"/>
            <a:ext cx="4352544" cy="521208"/>
          </a:xfrm>
          <a:prstGeom prst="roundRect">
            <a:avLst>
              <a:gd name="adj" fmla="val 17544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37581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Beneficiary sample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72600" y="375818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F2C6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Needs 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11696" y="4297680"/>
            <a:ext cx="4352544" cy="521208"/>
          </a:xfrm>
          <a:prstGeom prst="roundRect">
            <a:avLst>
              <a:gd name="adj" fmla="val 17544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12864" y="44165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Reviewer sign-off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372600" y="441655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F2C6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Pending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19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F14  /  GATED PILOT · MARKETS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158984" y="493776"/>
            <a:ext cx="1408176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77856" y="53949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GATED PILOT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outcome dossier,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a betting oracle.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can assemble timestamped evidence against rules locked before a market closes. An authorized oracle or jury still resolves and settles.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434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PRECOMMITTED RULES  /  DISPUTE WINDOW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09160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Ambiguous evidence escalates. A score never moves collateral.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01384" y="960120"/>
            <a:ext cx="4901184" cy="4965192"/>
          </a:xfrm>
          <a:prstGeom prst="roundRect">
            <a:avLst>
              <a:gd name="adj" fmla="val 3358"/>
            </a:avLst>
          </a:prstGeom>
          <a:solidFill>
            <a:srgbClr val="F2F4EE"/>
          </a:solidFill>
          <a:ln w="12700">
            <a:solidFill>
              <a:srgbClr val="F2F4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75704" y="12710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RESOLUTION SPECIFICATION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75704" y="17830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Did company X announce Y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before 23:59 UTC?</a:t>
            </a:r>
            <a:endParaRPr lang="en-US" sz="2500" dirty="0"/>
          </a:p>
        </p:txBody>
      </p:sp>
      <p:sp>
        <p:nvSpPr>
          <p:cNvPr id="15" name="Shape 13"/>
          <p:cNvSpPr/>
          <p:nvPr/>
        </p:nvSpPr>
        <p:spPr>
          <a:xfrm>
            <a:off x="6757416" y="3044952"/>
            <a:ext cx="4215384" cy="0"/>
          </a:xfrm>
          <a:prstGeom prst="line">
            <a:avLst/>
          </a:prstGeom>
          <a:noFill/>
          <a:ln w="10160">
            <a:solidFill>
              <a:srgbClr val="DCE9E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784848" y="31181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locked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69680" y="3118104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Before trading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57416" y="3575304"/>
            <a:ext cx="4215384" cy="0"/>
          </a:xfrm>
          <a:prstGeom prst="line">
            <a:avLst/>
          </a:prstGeom>
          <a:noFill/>
          <a:ln w="10160">
            <a:solidFill>
              <a:srgbClr val="DCE9E1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6784848" y="364845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as-of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869680" y="3648456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Deadline bounded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57416" y="4105656"/>
            <a:ext cx="4215384" cy="0"/>
          </a:xfrm>
          <a:prstGeom prst="line">
            <a:avLst/>
          </a:prstGeom>
          <a:noFill/>
          <a:ln w="10160">
            <a:solidFill>
              <a:srgbClr val="DCE9E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6784848" y="417880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Counterevidence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869680" y="4178808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Open during dispute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757416" y="4636008"/>
            <a:ext cx="4215384" cy="0"/>
          </a:xfrm>
          <a:prstGeom prst="line">
            <a:avLst/>
          </a:prstGeom>
          <a:noFill/>
          <a:ln w="10160">
            <a:solidFill>
              <a:srgbClr val="DCE9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6784848" y="470916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Outcome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869680" y="4709160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Indeterminate allowed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F15  /  GATED PILOT · BOUNTIES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158984" y="493776"/>
            <a:ext cx="1408176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77856" y="53949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GATED PILOT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Reward the missing proof,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the loudest opinion.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bounded evidence need invites verifiable submissions. Reviewers apply a published rubric, and accepted evidence creates a new Passport version.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3425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PILOT: OFF-CHAIN FUNDING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709160"/>
            <a:ext cx="4700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Payout follows review and dispute; links alone earn nothing.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10528" y="960120"/>
            <a:ext cx="4864608" cy="4974336"/>
          </a:xfrm>
          <a:prstGeom prst="roundRect">
            <a:avLst>
              <a:gd name="adj" fmla="val 3571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93992" y="12435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NEED  #127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93992" y="1783080"/>
            <a:ext cx="4114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the signed</a:t>
            </a:r>
            <a:endParaRPr lang="en-US" sz="2700" dirty="0"/>
          </a:p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original notice.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6793992" y="2962656"/>
            <a:ext cx="4224528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793992" y="328269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REQUIRED ORIGIN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49640" y="326440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Agency domain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93992" y="383133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DEADLINE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49640" y="381304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Before date 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93992" y="43799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49640" y="436168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Independent adjudicator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93992" y="5257800"/>
            <a:ext cx="3493008" cy="338328"/>
          </a:xfrm>
          <a:prstGeom prst="roundRect">
            <a:avLst>
              <a:gd name="adj" fmla="val 48649"/>
            </a:avLst>
          </a:prstGeom>
          <a:solidFill>
            <a:srgbClr val="35E3A0"/>
          </a:solidFill>
          <a:ln w="12700">
            <a:solidFill>
              <a:srgbClr val="35E3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12864" y="5303520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SUBMISSION  →  REVIEW  →  AWARD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21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F16  /  GATED PILOT · ZKTLS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158984" y="493776"/>
            <a:ext cx="1408176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77856" y="53949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GATED PILOT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Prove a private source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surrendering it.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For one supported portal and narrow predicate, a vetted zkTLS provider can verify source origin and a minimal disclosed value. Mesh never needs the full private record.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34256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SOURCE ORIGIN  ≠  DATABASE TRUTH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690872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Unsupported sites fail clearly; credentials stay with the user.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73952" y="1837944"/>
            <a:ext cx="1517904" cy="2139696"/>
          </a:xfrm>
          <a:prstGeom prst="roundRect">
            <a:avLst>
              <a:gd name="adj" fmla="val 12048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21488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PRIVATE PORTAL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38544" y="2926080"/>
            <a:ext cx="119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User device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10144" y="2907792"/>
            <a:ext cx="146304" cy="0"/>
          </a:xfrm>
          <a:prstGeom prst="line">
            <a:avLst/>
          </a:prstGeom>
          <a:noFill/>
          <a:ln w="2540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8174736" y="1837944"/>
            <a:ext cx="1517904" cy="2139696"/>
          </a:xfrm>
          <a:prstGeom prst="roundRect">
            <a:avLst>
              <a:gd name="adj" fmla="val 12048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9328" y="21488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PROOF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39328" y="2926080"/>
            <a:ext cx="119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Vetted provider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710928" y="2907792"/>
            <a:ext cx="146304" cy="0"/>
          </a:xfrm>
          <a:prstGeom prst="line">
            <a:avLst/>
          </a:prstGeom>
          <a:noFill/>
          <a:ln w="25400">
            <a:solidFill>
              <a:srgbClr val="35E3A0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875520" y="1837944"/>
            <a:ext cx="1517904" cy="2139696"/>
          </a:xfrm>
          <a:prstGeom prst="roundRect">
            <a:avLst>
              <a:gd name="adj" fmla="val 12048"/>
            </a:avLst>
          </a:prstGeom>
          <a:solidFill>
            <a:srgbClr val="35E3A0"/>
          </a:solidFill>
          <a:ln w="12700">
            <a:solidFill>
              <a:srgbClr val="35E3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40112" y="21488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040112" y="2926080"/>
            <a:ext cx="119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Minimal statement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4754880"/>
            <a:ext cx="49377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PROVIDER TRUST MODEL + FIELD BINDING ARE EXPLICIT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22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94360" y="5303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F17  /  GATED PILOT · ZERO-KNOWLEDGE PASSPORTS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158984" y="493776"/>
            <a:ext cx="1408176" cy="338328"/>
          </a:xfrm>
          <a:prstGeom prst="roundRect">
            <a:avLst>
              <a:gd name="adj" fmla="val 48649"/>
            </a:avLst>
          </a:prstGeom>
          <a:solidFill>
            <a:srgbClr val="10231D"/>
          </a:solidFill>
          <a:ln w="12700">
            <a:solidFill>
              <a:srgbClr val="10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77856" y="53949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B8F8D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GATED PILOT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Reveal only what</a:t>
            </a:r>
            <a:endParaRPr lang="en-US" sz="3700" dirty="0"/>
          </a:p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decision needs.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569464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Selective disclosure proves included fields. A later true ZK pilot proves one bounded hidden predicate against a signed Passport root and policy.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" y="3968496"/>
            <a:ext cx="4700016" cy="0"/>
          </a:xfrm>
          <a:prstGeom prst="line">
            <a:avLst/>
          </a:prstGeom>
          <a:noFill/>
          <a:ln w="12700">
            <a:solidFill>
              <a:srgbClr val="2847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621792" y="4325112"/>
            <a:ext cx="4965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DIFFERENT CRYPTOGRAPHIC CLAIMS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4690872"/>
            <a:ext cx="4837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valid proof verifies a commitment, not the source’s factual honesty.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987552"/>
            <a:ext cx="4992624" cy="4892040"/>
          </a:xfrm>
          <a:prstGeom prst="roundRect">
            <a:avLst>
              <a:gd name="adj" fmla="val 3551"/>
            </a:avLst>
          </a:prstGeom>
          <a:solidFill>
            <a:srgbClr val="10231D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48272" y="1289304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SIGNED PASSPORT ROOT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48272" y="1773936"/>
            <a:ext cx="4389120" cy="603504"/>
          </a:xfrm>
          <a:prstGeom prst="roundRect">
            <a:avLst>
              <a:gd name="adj" fmla="val 16667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76872" y="19385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0x91a4…e82c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748272" y="2715768"/>
            <a:ext cx="4389120" cy="969264"/>
          </a:xfrm>
          <a:prstGeom prst="roundRect">
            <a:avLst>
              <a:gd name="adj" fmla="val 13208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31152" y="28895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SELECTIVE DISCLOSURE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31152" y="32186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Reveal chosen fields + Merkle proof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748272" y="3922776"/>
            <a:ext cx="4389120" cy="1197864"/>
          </a:xfrm>
          <a:prstGeom prst="roundRect">
            <a:avLst>
              <a:gd name="adj" fmla="val 10687"/>
            </a:avLst>
          </a:prstGeom>
          <a:solidFill>
            <a:srgbClr val="07110F"/>
          </a:solidFill>
          <a:ln w="12700">
            <a:solidFill>
              <a:srgbClr val="2847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31152" y="4114800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2C6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TRUE ZK PREDICATE PILOT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31152" y="4471416"/>
            <a:ext cx="38313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Prove policy condition without value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9224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0881360" y="6492240"/>
            <a:ext cx="713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23  /  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12648" y="51206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NETWORK  /  MULTIPLE WAYS TO RELY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12648" y="969264"/>
            <a:ext cx="87782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evidence.</a:t>
            </a:r>
            <a:endParaRPr lang="en-US" sz="4600" dirty="0"/>
          </a:p>
          <a:p>
            <a:pPr algn="l" indent="0" marL="0">
              <a:buNone/>
            </a:pPr>
            <a:r>
              <a:rPr lang="en-US" sz="4600" b="1" dirty="0">
                <a:solidFill>
                  <a:srgbClr val="1023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Different decisions.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21792" y="2660904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surface points back to the claim, the exact evidence, the method and the version that existed when someone acted.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1792" y="3922776"/>
            <a:ext cx="5458968" cy="850392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078224"/>
            <a:ext cx="14904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PERSON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267712" y="415137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Should I share this?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82512" y="3922776"/>
            <a:ext cx="5458968" cy="850392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4078224"/>
            <a:ext cx="14904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28432" y="415137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Can I reuse this Passport?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" y="4974336"/>
            <a:ext cx="5458968" cy="850392"/>
          </a:xfrm>
          <a:prstGeom prst="roundRect">
            <a:avLst>
              <a:gd name="adj" fmla="val 17204"/>
            </a:avLst>
          </a:prstGeom>
          <a:solidFill>
            <a:srgbClr val="10231E"/>
          </a:solidFill>
          <a:ln w="12700">
            <a:solidFill>
              <a:srgbClr val="1023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5129784"/>
            <a:ext cx="14904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AGENT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267712" y="520293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Does policy pass?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82512" y="4974336"/>
            <a:ext cx="5458968" cy="850392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 w="12700">
            <a:solidFill>
              <a:srgbClr val="DCE9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5129784"/>
            <a:ext cx="14904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596B6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INSTITUTION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28432" y="520293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Who reviewed the case?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book/Desktop/Projects/AI3-hack/docs/pitch/assets/network-scul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50992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94960" y="0"/>
            <a:ext cx="484632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21792" y="54864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35E3A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×  SIMAN LABS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21792" y="1353312"/>
            <a:ext cx="66476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Make evidence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worth acting on.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658368" y="3986784"/>
            <a:ext cx="4901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DCE9E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living, inspectable and privacy-aware evidence network—built from a working product.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58368" y="5650992"/>
            <a:ext cx="1225296" cy="338328"/>
          </a:xfrm>
          <a:prstGeom prst="roundRect">
            <a:avLst>
              <a:gd name="adj" fmla="val 48649"/>
            </a:avLst>
          </a:prstGeom>
          <a:solidFill>
            <a:srgbClr val="35E3A0"/>
          </a:solidFill>
          <a:ln w="12700">
            <a:solidFill>
              <a:srgbClr val="35E3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5696712"/>
            <a:ext cx="987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60" kern="0" dirty="0">
                <a:solidFill>
                  <a:srgbClr val="10231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LIVE MVP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57400" y="5687568"/>
            <a:ext cx="3474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ai3-hack.oluwadunsin.dev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1792" y="64922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MESH  /  INCUBATION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0881360" y="649224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BB4A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24  /  24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Mesh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Mesh — The living evidence network</dc:title>
  <dc:subject>Incubation capabilities for SIMAN LABS</dc:subject>
  <dc:creator>Mesh</dc:creator>
  <cp:lastModifiedBy>Mesh</cp:lastModifiedBy>
  <cp:revision>1</cp:revision>
  <dcterms:created xsi:type="dcterms:W3CDTF">2026-10-11T09:45:09Z</dcterms:created>
  <dcterms:modified xsi:type="dcterms:W3CDTF">2026-10-11T09:45:09Z</dcterms:modified>
</cp:coreProperties>
</file>